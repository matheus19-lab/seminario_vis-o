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8" r:id="rId17"/>
    <p:sldId id="289" r:id="rId18"/>
    <p:sldId id="290" r:id="rId19"/>
    <p:sldId id="291" r:id="rId20"/>
    <p:sldId id="292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93" r:id="rId34"/>
    <p:sldId id="294" r:id="rId35"/>
    <p:sldId id="286" r:id="rId36"/>
    <p:sldId id="287" r:id="rId37"/>
    <p:sldId id="283" r:id="rId38"/>
    <p:sldId id="284" r:id="rId39"/>
    <p:sldId id="285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2143125"/>
            <a:ext cx="10515600" cy="403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1212559" y="6354899"/>
            <a:ext cx="5437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/39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3"/>
          <p:cNvCxnSpPr/>
          <p:nvPr/>
        </p:nvCxnSpPr>
        <p:spPr>
          <a:xfrm>
            <a:off x="0" y="612775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8B313A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0" y="635635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8B313A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619164" y="1379247"/>
            <a:ext cx="1096958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sz="4000" b="1" i="0">
                <a:solidFill>
                  <a:srgbClr val="2B2B2B"/>
                </a:solidFill>
                <a:latin typeface="Calibri"/>
              </a:rPr>
              <a:t>Detecção de Descontinuidades em Imagens</a:t>
            </a:r>
            <a:endParaRPr sz="4400"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1818040" y="3978373"/>
            <a:ext cx="857183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sz="1500" b="1" i="0" dirty="0">
                <a:solidFill>
                  <a:srgbClr val="8B313A"/>
                </a:solidFill>
                <a:latin typeface="Calibri"/>
              </a:rPr>
              <a:t>GRUPO 1</a:t>
            </a:r>
            <a:endParaRPr i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sz="2600" b="0" i="1" dirty="0">
                <a:solidFill>
                  <a:srgbClr val="2B2B2B"/>
                </a:solidFill>
                <a:latin typeface="Calibri"/>
              </a:rPr>
              <a:t>Matheus de Sousa Moura, </a:t>
            </a:r>
            <a:r>
              <a:rPr lang="pt-BR" sz="2600" i="1" dirty="0">
                <a:solidFill>
                  <a:srgbClr val="2B2B2B"/>
                </a:solidFill>
              </a:rPr>
              <a:t>Sara Raquel de Castro Moraes</a:t>
            </a:r>
            <a:r>
              <a:rPr sz="2600" b="0" i="1" dirty="0">
                <a:solidFill>
                  <a:srgbClr val="2B2B2B"/>
                </a:solidFill>
                <a:latin typeface="Calibri"/>
              </a:rPr>
              <a:t> e </a:t>
            </a:r>
            <a:r>
              <a:rPr lang="pt-BR" sz="2600" i="1" dirty="0">
                <a:solidFill>
                  <a:srgbClr val="2B2B2B"/>
                </a:solidFill>
              </a:rPr>
              <a:t>Carlos Eduardo Simão de Queiroz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i="1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sz="1700" b="0" i="0" dirty="0" err="1">
                <a:solidFill>
                  <a:srgbClr val="6E6E6E"/>
                </a:solidFill>
                <a:latin typeface="Calibri"/>
              </a:rPr>
              <a:t>Tópicos</a:t>
            </a:r>
            <a:r>
              <a:rPr sz="1700" b="0" i="0" dirty="0">
                <a:solidFill>
                  <a:srgbClr val="6E6E6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6E6E6E"/>
                </a:solidFill>
                <a:latin typeface="Calibri"/>
              </a:rPr>
              <a:t>Especiais</a:t>
            </a:r>
            <a:r>
              <a:rPr sz="1700" b="0" i="0" dirty="0">
                <a:solidFill>
                  <a:srgbClr val="6E6E6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6E6E6E"/>
                </a:solidFill>
                <a:latin typeface="Calibri"/>
              </a:rPr>
              <a:t>em</a:t>
            </a:r>
            <a:r>
              <a:rPr sz="1700" b="0" i="0" dirty="0">
                <a:solidFill>
                  <a:srgbClr val="6E6E6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6E6E6E"/>
                </a:solidFill>
                <a:latin typeface="Calibri"/>
              </a:rPr>
              <a:t>Visão</a:t>
            </a:r>
            <a:r>
              <a:rPr sz="1700" b="0" i="0" dirty="0">
                <a:solidFill>
                  <a:srgbClr val="6E6E6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6E6E6E"/>
                </a:solidFill>
                <a:latin typeface="Calibri"/>
              </a:rPr>
              <a:t>Computacional</a:t>
            </a:r>
            <a:r>
              <a:rPr sz="1700" b="0" i="0" dirty="0">
                <a:solidFill>
                  <a:srgbClr val="6E6E6E"/>
                </a:solidFill>
                <a:latin typeface="Calibri"/>
              </a:rPr>
              <a:t>  —  Prof. José Denes Lima Araújo</a:t>
            </a:r>
            <a:endParaRPr sz="3200" i="1" dirty="0"/>
          </a:p>
        </p:txBody>
      </p:sp>
      <p:pic>
        <p:nvPicPr>
          <p:cNvPr id="93" name="Google Shape;93;p13" descr="http://leg.ufpi.br/subsiteFiles/concursoufpi/arquivos/images/Bras%C3%A3o_da_universidade_Federal_do_Piau%C3%AD_UFP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0456" y="0"/>
            <a:ext cx="1503104" cy="182006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3364173" y="1887192"/>
            <a:ext cx="53430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Universidade Federal do Piauí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Campus Senador Helvídio Nunes de Barros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Sumário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11679"/>
            <a:ext cx="10506456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1.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Fundamentos: por que usar derivadas na segmentação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2.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Detecção de pontos isolados  (Seção 10.2.2)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3.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Detecção de linhas  (Seção 10.2.3)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4.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Filtros de aguçamento — Laplaciano, máscara de nitidez e gradiente  (Seção 3.6)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5.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Modelos e detecção de bordas  (Seções 10.2.4 e 10.2.5)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6.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Operadores de gradiente: Roberts, Prewitt e Sobel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7.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Algoritmo de Canny  (Seção 10.2.6)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8.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Aplicações práticas em Python</a:t>
            </a:r>
          </a:p>
          <a:p>
            <a:pPr algn="l">
              <a:lnSpc>
                <a:spcPct val="104000"/>
              </a:lnSpc>
              <a:spcAft>
                <a:spcPts val="13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2B2B2B"/>
                </a:solidFill>
                <a:latin typeface="Calibri"/>
              </a:rPr>
              <a:t>9.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Quadro-resumo e conclusão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9C06B0-BF34-4514-BBD7-EC45F0375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Fundamentos: Segmentação por Descontinuidades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50246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O que é segmentação?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076" y="1874519"/>
            <a:ext cx="50246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Por que derivadas?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39"/>
            <a:ext cx="5024628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particiona a imagem em sub-regiões que cobrem toda a imagem, são conectadas, disjuntas e internamente homogêneas quanto a uma propriedade Q.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duas categorias clássicas: descontinuidade (bordas) e similaridade (limiarização, regiões).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o Grupo 1 cobre a categoria de descontinuidade — pontos, linhas e bordas (Seção 10.2).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6" y="2377439"/>
            <a:ext cx="502462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1ª ordem: zero em áreas constantes; diferente de zero no início de degraus/rampas e ao longo da rampa.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2ª ordem: zero em áreas constantes; diferente de zero no início E no fim da rampa/degrau.</a:t>
            </a:r>
          </a:p>
        </p:txBody>
      </p:sp>
      <p:pic>
        <p:nvPicPr>
          <p:cNvPr id="8" name="Picture 7" descr="combo_deriv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4389119"/>
            <a:ext cx="3250652" cy="1508760"/>
          </a:xfrm>
          <a:prstGeom prst="rect">
            <a:avLst/>
          </a:prstGeom>
        </p:spPr>
      </p:pic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B84D22-A5C4-4F0E-92FA-E3C6BEAEF7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Perfil de Intensidade e Resposta das Derivadas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perfil_deriv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08" y="1874519"/>
            <a:ext cx="6788336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961886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Recriação da Fig. 10.2 (Gonzalez &amp; Woods) — perfil de intensidade com rampa, segmento plano, ponto isolado, linha e degrau, e as respectivas 1ª e 2ª derivadas.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165CAD-EB3A-4D8C-9170-FBBD9EC559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1ª × 2ª Derivada: Conclusões do Livro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50246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Derivadas de 1ª ordem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076" y="1874519"/>
            <a:ext cx="50246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8B313A"/>
                </a:solidFill>
                <a:latin typeface="Calibri"/>
              </a:rPr>
              <a:t>Derivadas de 2ª ordem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39"/>
            <a:ext cx="5024628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produzem bordas mais "grossas" (respondem ao longo de toda a rampa).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menos sensíveis a pequenos detalhes e ruído fino.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a magnitude indica a presença de uma borda.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3076" y="2377439"/>
            <a:ext cx="5024628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resposta bem mais forte a detalhes finos: pontos isolados, linhas e ruído.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produzem um efeito de "borda dupla" nas transições (dois valores por borda).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o sinal indica o lado escuro/claro da transição.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o cruzamento por zero ajuda a localizar o centro da borda.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F36B71B5-337B-4455-86B1-54995CDD2A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 Máscara Geral de Filtragem Espacial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panel_mask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981" y="1965959"/>
            <a:ext cx="581699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257800"/>
            <a:ext cx="105064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650" b="1" i="0" dirty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toda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técnica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desta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seção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(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pontos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linhas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bordas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) é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implementada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percorrendo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a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imagem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com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uma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máscara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3×3 (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ou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2×2) e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calculando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essa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soma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ponderada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650" b="1" i="0" dirty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a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diferença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entre as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técnicas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está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apenas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nos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coeficientes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 wₖ </a:t>
            </a:r>
            <a:r>
              <a:rPr sz="1650" b="0" i="0" dirty="0" err="1">
                <a:solidFill>
                  <a:srgbClr val="2B2B2B"/>
                </a:solidFill>
                <a:latin typeface="Calibri"/>
              </a:rPr>
              <a:t>escolhidos</a:t>
            </a:r>
            <a:r>
              <a:rPr sz="1650" b="0" i="0" dirty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7E3B60-6935-4B81-A495-C4E7E58748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Detecção de Pontos Isolados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700" b="0" i="1">
                <a:solidFill>
                  <a:srgbClr val="E9DDDD"/>
                </a:solidFill>
                <a:latin typeface="Calibri"/>
              </a:rPr>
              <a:t>Seção 10.2.2 — máscara Laplaciana aplicada a mudanças abruptas em um único pixel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96012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000" b="1" i="0">
                <a:solidFill>
                  <a:srgbClr val="8B313A"/>
                </a:solidFill>
                <a:latin typeface="Calibri"/>
              </a:rPr>
              <a:t>1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E07F0-7831-4C5A-84A7-B51C56A18E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Quando Detectar Pontos Isolados?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baseia-se em derivadas de 2ª ordem (Laplaciano) — as mais sensíveis a mudanças pontuais e detalhes finos.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um ponto isolado tem intensidade muito diferente da vizinhança, cercado por um fundo homogêneo.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aplicação típica: defeitos pontuais em radiografias industriais — por exemplo, porosidade em uma lâmina de turbina (Exemplo 10.1 do livro).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50" b="0" i="0">
                <a:solidFill>
                  <a:srgbClr val="2B2B2B"/>
                </a:solidFill>
                <a:latin typeface="Calibri"/>
              </a:rPr>
              <a:t>quando o fundo não é homogêneo, outras técnicas de segmentação são mais adequadas.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612B32-C49F-4C5B-A41C-7BA2D689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 Laplaciana e Regra de Limiarização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laplacian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78" y="1874519"/>
            <a:ext cx="7750196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303519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Fig. 10.4(a) — a soma dos coeficientes é zero: resposta nula em regiões de intensidade constante. T é escolhido, por exemplo, como 90% da maior resposta absoluta observada na imagem (Exemplo 10.1).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C04601-4A6B-4D20-A8DF-6598CB0B41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Detecção de Ponto Isolado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poin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92" y="1874519"/>
            <a:ext cx="6891568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669279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Implementação em Python (scipy.ndimage.correlate) sobre imagem sintética: máscara Laplaciana 3×3 + limiar T = 90% da maior resposta absoluta — mesmo critério do Exemplo 10.1.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EEB3B-6776-4626-BD53-40354DB50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Detecção de Linhas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700" b="0" i="1">
                <a:solidFill>
                  <a:srgbClr val="E9DDDD"/>
                </a:solidFill>
                <a:latin typeface="Calibri"/>
              </a:rPr>
              <a:t>Seção 10.2.3 — máscaras direcionais e o efeito de linha dupla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96012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000" b="1" i="0">
                <a:solidFill>
                  <a:srgbClr val="8B313A"/>
                </a:solidFill>
                <a:latin typeface="Calibri"/>
              </a:rPr>
              <a:t>2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3A37B3-5886-4A46-944E-126658080B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Conceito e o Problema da Linha Dupla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assim como pontos, linhas finas respondem melhor a derivadas de 2ª ordem, que produzem linhas mais nítidas que a 1ª ordem.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a máscara Laplaciana pode ser usada, mas gera valores positivos e negativos de cada lado da linha — o efeito de "linha dupla".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solução prática: manter apenas os valores positivos (ou aplicar um limiar), o que produz linhas mais finas e úteis.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7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linhas largas em relação ao tamanho da máscara geram um "vale" de zeros entre as bordas — melhor tratá-las como regiões.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868165-DC16-4699-AFF4-9F7130A29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Máscaras Direcionais de Linha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line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31" y="1874519"/>
            <a:ext cx="9297089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892040"/>
            <a:ext cx="1050645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cada máscara tem peso 2 na direção preferencial; os coeficientes somam zero (Fig. 10.6).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regra de decisão: se |Rₖ| &gt; |Rⱼ| para todo j ≠ k, o pixel tem maior probabilidade de pertencer a uma linha na direção k (Exemplo 10.3).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AA6DAD-2282-4D7A-87A5-0CAA1499A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Detecção de Linhas por Direção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lin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48" y="1874519"/>
            <a:ext cx="6872656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669279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Imagem sintética com linhas horizontal, vertical e diagonal. A máscara de +45° (peso 2 na diagonal principal) responde e é limiarizada apenas na linha diagonal, ignorando as demais — como no Exemplo 10.3.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CA462C-A8DA-4337-B449-8A4CAD8DD5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Filtros de Aguçamento: o Operador Laplaciano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laplacian_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115" y="1874519"/>
            <a:ext cx="8382722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74920"/>
            <a:ext cx="105064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</a:pPr>
            <a:r>
              <a:rPr sz="15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o Laplaciano é um filtro de aguçamento isotrópico — sua resposta não depende da direção da descontinuidade — e é a base tanto da detecção de pontos quanto de linhas vista nas seções anteriores.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A5092A-96B7-4BD8-8EAF-651B482FD2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Filtros de Aguçamento: Objetivo e Fundamentos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objetivo: salientar transições de intensidade para aumentar a nitidez — usos em impressão eletrônica, imagens médicas, inspeção industrial e navegação autônoma (Seção 3.6).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o borramento é feito pela média dos pixels (análoga à integração); logo, o aguçamento é feito por diferenciação no domínio do espaço.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resposta de um operador derivativo é proporcional ao nível de descontinuidade: realça bordas e outras descontinuidades (inclusive ruído) e atenua áreas de variação suave.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2ª derivada realça muito mais os detalhes finos que a 1ª e é mais fácil de implementar — por isso o livro começa pelo Laplaciano e depois trata a máscara de nitidez e o gradiente (1ª ordem).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612B32-C49F-4C5B-A41C-7BA2D689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Laplaciano para Aguçamento de Imagens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Laplaciano discreto (4-vizinhos): ∇²f = f(x+1,y) + f(x−1,y) + f(x,y+1) + f(x,y−1) − 4f(x,y). Com as diagonais, o termo central passa a −8f(x,y): isotrópico em incrementos de 45° (4-viz.: 90°).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sozinho, o Laplaciano deixa só bordas e descontinuidades sobre um fundo escuro. Somá-lo à original recupera o fundo: g(x,y) = f(x,y) + c·∇²f(x,y).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c = −1 para máscaras de coeficiente central negativo (Fig. 3.37 a, b) e c = +1 para as de coeficiente central positivo (Fig. 3.37 c, d) — o sinal da máscara deve ser considerado.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para exibir o Laplaciano, soma-se o valor mínimo e reescala-se para [0, L−1]. A máscara com diagonais aguça mais que a de 4 vizinhos (Exemplo 3.15).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612B32-C49F-4C5B-A41C-7BA2D689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 de Nitidez e Filtragem High-Boost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processo clássico da indústria gráfica: (1) borrar a imagem; (2) subtrair a versão borrada da original — a diferença é a máscara; (3) somar a máscara à original.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máscara: g_máscara(x,y) = f(x,y) − f̄(x,y)  ·  resultado: g(x,y) = f(x,y) + k·g_máscara(x,y), em que f̄ é a imagem borrada e k ≥ 0.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k = 1: máscara de nitidez (unsharp masking)  ·  k &gt; 1: filtragem high-boost (alto-reforço)  ·  k &lt; 1: atenua a contribuição da máscara.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cuidado: a máscara lembra uma 2ª derivada; com k alto demais, valores negativos geram uma auréola (halo) escura ao redor das bordas. No Exemplo 3.16, k = 4,5 foi o maior valor que manteve o resultado positivo.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612B32-C49F-4C5B-A41C-7BA2D689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Gradiente para Aguçamento (Não Linear)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1ª derivada via magnitude do gradiente: M(x,y) = √(gₓ² + g_y²) ≈ |gₓ| + |g_y|. As derivadas parciais são lineares (máscaras); M é não linear (potência e raiz, ou módulo).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magnitude é isotrópica; a aproximação por valores absolutos é mais barata, mas em geral perde essa propriedade. As máscaras usuais são isotrópicas em múltiplos de 90°.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operadores: Roberts (2×2, diferenças diagonais: gₓ = z₉−z₅, g_y = z₈−z₆) e Sobel (3×3, peso 2 no centro, com alguma suavização). Coeficientes somam zero: resposta nula em áreas constantes.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Exemplo 3.17: na inspeção industrial (lente de contato), o gradiente de Sobel realça defeitos de borda e elimina tons constantes ou de transição suave — pré-processamento para inspeção automatizada.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612B32-C49F-4C5B-A41C-7BA2D689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Aguçamento de Imagens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poin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74519"/>
            <a:ext cx="8229600" cy="3749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669279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Imagem real (Lua, scikit-image) levemente borrada, processada em Python (scipy.ndimage): Laplaciano 8-vizinhos com c = −1; máscara de nitidez com gaussiana 5×5 (σ = 3), k = 1 e k = 4,5 (parâmetros do Exemplo 3.16); gradiente de Sobel |gₓ|+|g_y|. O high-boost dá o realce mais forte; o gradiente destaca só as bordas.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EEB3B-6776-4626-BD53-40354DB50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Modelos e Detecção de Bordas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sz="1700" b="0" i="1">
                <a:solidFill>
                  <a:srgbClr val="E9DDDD"/>
                </a:solidFill>
                <a:latin typeface="Calibri"/>
              </a:rPr>
              <a:t>Seções 10.2.4 e 10.2.5 — do modelo teórico ao operador do gradiente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960120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000" b="1" i="0">
                <a:solidFill>
                  <a:srgbClr val="8B313A"/>
                </a:solidFill>
                <a:latin typeface="Calibri"/>
              </a:rPr>
              <a:t>3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FE8B32-8E21-4516-8C78-95E1E8FC4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Três Modelos de Borda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edg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1874519"/>
            <a:ext cx="6689851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434840"/>
            <a:ext cx="1050645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Degrau: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transição idealizada em 1 pixel — comum em imagens geradas por computador.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Rampa: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transição suave; inclinação inversamente proporcional ao desfoque — modelo mais realista para imagens reais (borrão + ruído).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B2B2B"/>
                </a:solidFill>
                <a:latin typeface="Calibri"/>
              </a:rPr>
              <a:t>Telhado: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modela linhas finas; no limite (base de 1 px) equivale a uma linha — comum em imagens de profundidade e desenhos digitalizados.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73DF86-1351-4646-9DCE-5FF3A31954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Derivadas na Borda em Rampa e Sensibilidade ao Ruído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ramp_deriva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4206240" cy="3988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21808" y="1965959"/>
            <a:ext cx="6025896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1ª derivada: positiva ao longo de toda a rampa → marca a presença da borda.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2ª derivada: positiva no início, negativa no fim, com um cruzamento por zero exatamente no centro → localiza a borda com precisão.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o sinal da 2ª derivada indica o lado escuro/claro da transição.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mesmo ruído "quase invisível" na imagem já compromete fortemente as derivadas — a 2ª ordem é ainda mais sensível que a 1ª (Exemplo 10.4).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conclusão prática: suavizar a imagem antes de qualquer detector baseado em derivadas.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EEA5C8-6983-4A15-81D3-FF721D13B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Três Etapas Fundamentais da Detecção de Bordas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" y="2148839"/>
            <a:ext cx="822960" cy="822960"/>
          </a:xfrm>
          <a:prstGeom prst="ellipse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54679"/>
            <a:ext cx="3258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8B313A"/>
                </a:solidFill>
                <a:latin typeface="Calibri"/>
              </a:rPr>
              <a:t>Suavização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57599"/>
            <a:ext cx="325831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reduzir o ruído da imagem antes de qualquer outra etapa.</a:t>
            </a:r>
          </a:p>
        </p:txBody>
      </p:sp>
      <p:sp>
        <p:nvSpPr>
          <p:cNvPr id="7" name="Oval 6"/>
          <p:cNvSpPr/>
          <p:nvPr/>
        </p:nvSpPr>
        <p:spPr>
          <a:xfrm>
            <a:off x="4465320" y="2148839"/>
            <a:ext cx="822960" cy="822960"/>
          </a:xfrm>
          <a:prstGeom prst="ellipse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5320" y="3154679"/>
            <a:ext cx="3258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8B313A"/>
                </a:solidFill>
                <a:latin typeface="Calibri"/>
              </a:rPr>
              <a:t>Detecção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5320" y="3657599"/>
            <a:ext cx="325831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operação local que identifica todos os candidatos a pontos de borda.</a:t>
            </a:r>
          </a:p>
        </p:txBody>
      </p:sp>
      <p:sp>
        <p:nvSpPr>
          <p:cNvPr id="10" name="Oval 9"/>
          <p:cNvSpPr/>
          <p:nvPr/>
        </p:nvSpPr>
        <p:spPr>
          <a:xfrm>
            <a:off x="8089392" y="2148839"/>
            <a:ext cx="822960" cy="822960"/>
          </a:xfrm>
          <a:prstGeom prst="ellipse">
            <a:avLst/>
          </a:prstGeom>
          <a:solidFill>
            <a:srgbClr val="8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9392" y="3154679"/>
            <a:ext cx="3258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8B313A"/>
                </a:solidFill>
                <a:latin typeface="Calibri"/>
              </a:rPr>
              <a:t>Localização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9392" y="3657599"/>
            <a:ext cx="325831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  <a:latin typeface="Calibri"/>
              </a:rPr>
              <a:t>selecionar, entre os candidatos, apenas os pontos que de fato formam uma borda.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36E7C4CC-748A-4596-A739-1678743ED5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24</a:t>
            </a:fld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 Gradiente da Imagem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gradient_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90" y="2148839"/>
            <a:ext cx="5582372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297680"/>
            <a:ext cx="105064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7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o gradiente ∇f é a ferramenta ideal para obter a intensidade e a direção da borda em cada ponto (x, y) da imagem.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  <a:buNone/>
            </a:pPr>
            <a:r>
              <a:rPr sz="17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aponta na direção de maior taxa de variação de f — propriedade geométrica central de toda a Seção 10.2.5.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A40B69-FCBA-4D2F-87B1-2919D6F179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25</a:t>
            </a:fld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Magnitude e Direção do Gradiente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grad_magd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429" y="2057399"/>
            <a:ext cx="6984093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892040"/>
            <a:ext cx="1050645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M(x,y) também é chamada de "imagem gradiente" — é comum se referir a ela como um mapa de bordas.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direção de uma borda em (x, y) é ortogonal à direção α(x,y) do vetor gradiente naquele ponto.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8343F2-F873-4207-BF10-942EF74A21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26</a:t>
            </a:fld>
            <a:endParaRPr 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Exemplo 10.5 — Calculando o Gradiente em um Ponto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gradien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5120640" cy="3745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6208" y="2148839"/>
            <a:ext cx="5111496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no ponto em destaque: ∂f/∂y = −2  e  ∂f/∂x = 2.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logo, M(x,y) = √(2² + 2²) = 2√2.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direção do vetor gradiente é α(x,y) = 135°.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6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B2B2B"/>
                </a:solidFill>
                <a:latin typeface="Calibri"/>
              </a:rPr>
              <a:t>a direção da borda é ortogonal ao gradiente: 135° − 90° = 45°.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E9FAC2-DEEA-4EC7-8D1E-C0BFF6C3A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27</a:t>
            </a:fld>
            <a:endParaRPr 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Operador de Roberts (Gradiente Cruzado)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rob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59" y="1874519"/>
            <a:ext cx="6714633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74920"/>
            <a:ext cx="1050645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usa diferenças diagonais em uma vizinhança 2×2 — o operador mais simples da Seção 10.2.5.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por não ser simétrico ao redor de um pixel central, é pouco útil para estimar a direção da borda.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63AB35-0B59-4878-875C-30F75B941E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28</a:t>
            </a:fld>
            <a:endParaRPr 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Operadores de Prewitt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prewi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651" y="1874519"/>
            <a:ext cx="823965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257800"/>
            <a:ext cx="1050645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usa uma vizinhança 3×3 simétrica: a diferença entre a 3ª e a 1ª linha (ou coluna) aproxima a derivada naquela direção.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5B1F87-2CB7-4883-9E93-AD3115EC42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29</a:t>
            </a:fld>
            <a:endParaRPr lang="pt-B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Operadores de Sobel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651" y="1874519"/>
            <a:ext cx="823965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120640"/>
            <a:ext cx="1050645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igual ao Prewitt, mas com peso 2 no pixel central da direção — isso suaviza a imagem e reduz a sensibilidade ao ruído.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6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por isso é o operador de gradiente mais usado na prática.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2CC3D0-74CC-4145-B9CB-AB5373E5DA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30</a:t>
            </a:fld>
            <a:endParaRPr 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Máscaras Diagonais e Magnitude Aproximada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anel_diagonal_appr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02" y="1874519"/>
            <a:ext cx="8544748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29200"/>
            <a:ext cx="1050645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Prewitt e Sobel também têm versões voltadas às diagonais, mais sensíveis a bordas a ±45° (Fig. 10.15).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M(x,y) ≈ |gₓ| + |g_y| evita raiz quadrada e quadrados — mais leve computacionalmente, com resultado idêntico ao exato em bordas puramente verticais/horizontais.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6E0F15-A1AC-4CBD-837F-36E9DDBA87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31</a:t>
            </a:fld>
            <a:endParaRPr lang="pt-B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Roberts × Prewitt × Sobel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edg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10506456" cy="299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055695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Imagem sintética com ruído (círculo, quadrado e triângulo) — magnitude do gradiente |M(x,y)| calculada em Python com cada operador. Os três detectam os mesmos contornos; Prewitt e Sobel produzem bordas visivelmente menos ruidosas que Roberts (Exemplo 10.6).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E5537-F517-4494-99FE-102CCA3A47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32</a:t>
            </a:fld>
            <a:endParaRPr 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Laplaciano para Bordas: LoG e Cruzamento por Zero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o Laplaciano (2ª derivada) cruza o zero no meio de uma transição de degrau ou rampa — propriedade usada para localizar bordas (Seção 3.6.1).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usado direto, é muito sensível a ruído, produz bordas duplas (separadas por zeros) e não informa a direção da borda.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solução de Marr–Hildreth: suavizar com gaussiana antes — LoG: ∇²G(x,y) = [(x² + y² − σ²)/σ⁴]·e^(−(x²+y²)/2σ²); a borda é o cruzamento por zero da imagem filtrada.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no script: gaussiana (σ), Laplaciano 3×3, cruzamento por zero entre vizinhos opostos e limiar para descartar cruzamentos fracos. σ maior: menos ruído e menos detalhe.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612B32-C49F-4C5B-A41C-7BA2D689C3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33</a:t>
            </a:fld>
            <a:endParaRPr lang="pt-B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Laplaciano × 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poin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00" y="2250000"/>
            <a:ext cx="9700000" cy="2771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251428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Imagem sintética com ruído (quadrado, círculo e triângulo). Cruzamento por zero do Laplaciano com o mesmo limiar (20% do máximo), sem suavização e com LoG (σ = 2). Sem suavizar, o ruído quebra as bordas; com o LoG, os contornos ficam contínuos e limpos.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EEB3B-6776-4626-BD53-40354DB50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34</a:t>
            </a:fld>
            <a:endParaRPr 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O Algoritmo de Canny (Seção 10.2.6)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057399"/>
            <a:ext cx="10506456" cy="4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Contexto: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o Canny (1986) combina, num único método considerado “ótimo”, ideias já vistas nesta seção — suavização, gradiente e limiarização — para resolver o problema da borda grossa das derivadas de 1ª ordem.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1. Suavização Gaussiana: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reduz o ruído antes de derivar; o Exemplo 10.4 mostrou como o ruído degrada tanto a 1ª quanto a 2ª derivada.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2. Gradiente (Sobel):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calcula a magnitude M(x,y) e a direção da borda em cada pixel, exatamente como na Seção 10.2.5.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3. Supressão não-máxima: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afina a borda mantendo, em cada pixel, apenas o maior valor de M ao longo da direção do gradiente (perpendicular à borda).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4. Limiarização dupla: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classifica cada pixel em borda “forte”, “fraca” ou não-borda, a partir de dois limiares (ideia semelhante ao T das seções 10.2.2/10.2.3).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sz="1550" b="1" i="0">
                <a:solidFill>
                  <a:srgbClr val="8B313A"/>
                </a:solidFill>
                <a:latin typeface="Calibri"/>
              </a:rPr>
              <a:t>▪  5. Ligação por histerese: 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uma borda fraca só é mantida se estiver conectada (8-vizinhança) a uma borda forte; o restante é descartado.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D8A9D5-1DF5-4DFD-A77E-85D26A718C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35</a:t>
            </a:fld>
            <a:endParaRPr 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Aplicação Prática: Detecção de Bordas com Canny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_canny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10506456" cy="3677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734659"/>
            <a:ext cx="10506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Calibri"/>
              </a:rPr>
              <a:t>Mesma imagem sintética com ruído do Exemplo 10.6. À direita, o resultado do Canny (implementado em Python: suavização Gaussiana + Sobel + supressão não-máxima + histerese) — bordas mais finas e contínuas que a magnitude de Sobel “crua” ao centro, ainda que a fragmentação nos cantos mostre que o ruído da imagem também afeta a histerese.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E92A1E-06A0-4CB3-9E93-78888086DC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36</a:t>
            </a:fld>
            <a:endParaRPr 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Quadro-Resumo das Técnicas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920239"/>
          <a:ext cx="10506456" cy="36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8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Ordem da derivada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Máscara típica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Quando usar</a:t>
                      </a:r>
                    </a:p>
                  </a:txBody>
                  <a:tcPr marT="50800" marB="50800">
                    <a:solidFill>
                      <a:srgbClr val="8B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Pontos isolados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2ª (Laplaciano)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3×3, centro −8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defeito pontual em fundo homogêneo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Linhas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2ª (Laplaciano direcional)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3×3, peso 2 na direção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linhas finas (1 px) em direção conhecida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Aguçamento (Seção 3.6)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2ª (Laplaciano) e 1ª (gradiente)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Laplaciano 3×3; máscara de nitidez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realçar detalhes de imagens borradas (impressão, imagens médicas, inspeção)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Bordas (gradiente)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1ª (Roberts / Prewitt / Sobel)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2×2 ou 3×3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transições graduais, com intensidade e direção; Roberts é o mais simples, mas o mais sensível a ruído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Bordas (Laplaciano / LoG)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2ª (cruzamento por zero)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gaussiana + Laplaciano 3×3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localizar a borda pelo cruzamento por zero; exige suavização (ruído e bordas duplas)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2B2B2B"/>
                          </a:solidFill>
                          <a:latin typeface="Calibri"/>
                        </a:rPr>
                        <a:t>Bordas (Canny)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1ª + pós-processamento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Sobel + NMS + histerese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Calibri"/>
                        </a:rPr>
                        <a:t>bordas finas e contínuas; menos sensível a ruído (Seção 10.2.6)</a:t>
                      </a:r>
                    </a:p>
                  </a:txBody>
                  <a:tcPr marT="50800" marB="50800">
                    <a:solidFill>
                      <a:srgbClr val="ECE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650000"/>
            <a:ext cx="10506456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1">
                <a:solidFill>
                  <a:srgbClr val="6E6E6E"/>
                </a:solidFill>
                <a:latin typeface="Calibri"/>
              </a:rPr>
              <a:t>O Canny (Seção 10.2.6, slides a seguir) estende a ideia da linha de bordas (gradiente): usa o mesmo gradiente de 1ª ordem, mas acrescenta afinamento (supressão não-máxima) e uma decisão com memória (limiarização dupla + histerese) para obter bordas mais finas e contínuas.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3AA2CB-2151-4074-B923-823C20DF65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37</a:t>
            </a:fld>
            <a:endParaRPr lang="pt-B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Conclusão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103119"/>
            <a:ext cx="10506456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a detecção de descontinuidades — pontos, linhas e bordas — é a base da segmentação de imagens por bordas.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derivadas de 1ª ordem localizam bordas; derivadas de 2ª ordem realçam detalhes finos (pontos e linhas) e permitem localizar a borda com precisão via cruzamento por zero.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suavização é indispensável: todo detector baseado em derivadas é sensível ao ruído — quanto maior a ordem, maior a sensibilidade.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  <a:buNone/>
            </a:pPr>
            <a:r>
              <a:rPr sz="1800" b="1" i="0">
                <a:solidFill>
                  <a:srgbClr val="8B313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entre os operadores de gradiente, o Sobel é o mais usado na prática por equilibrar simplicidade e robustez ao ruído.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EE8A993-349C-4FE8-B577-7F873B5FFE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38</a:t>
            </a:fld>
            <a:endParaRPr lang="pt-B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i="0">
                <a:solidFill>
                  <a:srgbClr val="8B313A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148839"/>
            <a:ext cx="10506456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0"/>
              </a:spcAft>
              <a:buNone/>
            </a:pPr>
            <a:r>
              <a:rPr sz="1750" b="1" i="0" dirty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GONZALEZ, Rafael C.; WOODS, Richard E.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Processamento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Digital de Imagens. 3ª ed. São Paulo: Pearson, 2010.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Capítulos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3, 9 e 10.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  <a:buNone/>
            </a:pPr>
            <a:r>
              <a:rPr sz="1750" b="1" i="0" dirty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Material da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disciplina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Tópicos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Especiais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em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Visão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Computacional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— UFPI, Campus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Senador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Helvídio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Nunes de Barros (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Picos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), Prof. </a:t>
            </a:r>
            <a:r>
              <a:rPr sz="1750" b="0" i="0">
                <a:solidFill>
                  <a:srgbClr val="2B2B2B"/>
                </a:solidFill>
                <a:latin typeface="Calibri"/>
              </a:rPr>
              <a:t>José Denes Lima Araújo.</a:t>
            </a:r>
          </a:p>
          <a:p>
            <a:pPr algn="l">
              <a:lnSpc>
                <a:spcPct val="108000"/>
              </a:lnSpc>
              <a:spcAft>
                <a:spcPts val="2000"/>
              </a:spcAft>
              <a:buNone/>
            </a:pPr>
            <a:r>
              <a:rPr sz="1750" b="1" i="0" dirty="0">
                <a:solidFill>
                  <a:srgbClr val="8B313A"/>
                </a:solidFill>
                <a:latin typeface="Calibri"/>
              </a:rPr>
              <a:t>▪ 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Figuras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,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máscaras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demonstrações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produzidas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pelo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grupo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em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Python (NumPy, SciPy e Matplotlib), a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partir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das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equações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e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exemplos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do </a:t>
            </a:r>
            <a:r>
              <a:rPr sz="1750" b="0" i="0" dirty="0" err="1">
                <a:solidFill>
                  <a:srgbClr val="2B2B2B"/>
                </a:solidFill>
                <a:latin typeface="Calibri"/>
              </a:rPr>
              <a:t>capítulo</a:t>
            </a:r>
            <a:r>
              <a:rPr sz="1750" b="0" i="0" dirty="0">
                <a:solidFill>
                  <a:srgbClr val="2B2B2B"/>
                </a:solidFill>
                <a:latin typeface="Calibri"/>
              </a:rPr>
              <a:t> 10.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6F6CFB-8A71-43A1-AE05-BAB22D7B4B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39</a:t>
            </a:fld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3375</Words>
  <Application>Microsoft Office PowerPoint</Application>
  <PresentationFormat>Widescreen</PresentationFormat>
  <Paragraphs>230</Paragraphs>
  <Slides>39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Detecção de Descontinuidades em Imagens</vt:lpstr>
      <vt:lpstr>Sumário</vt:lpstr>
      <vt:lpstr>Fundamentos: Segmentação por Descontinuidades</vt:lpstr>
      <vt:lpstr>Perfil de Intensidade e Resposta das Derivadas</vt:lpstr>
      <vt:lpstr>1ª × 2ª Derivada: Conclusões do Livro</vt:lpstr>
      <vt:lpstr>A Máscara Geral de Filtragem Espacial</vt:lpstr>
      <vt:lpstr>Detecção de Pontos Isolados</vt:lpstr>
      <vt:lpstr>Quando Detectar Pontos Isolados?</vt:lpstr>
      <vt:lpstr>Máscara Laplaciana e Regra de Limiarização</vt:lpstr>
      <vt:lpstr>Aplicação Prática: Detecção de Ponto Isolado</vt:lpstr>
      <vt:lpstr>Detecção de Linhas</vt:lpstr>
      <vt:lpstr>Conceito e o Problema da Linha Dupla</vt:lpstr>
      <vt:lpstr>Máscaras Direcionais de Linha</vt:lpstr>
      <vt:lpstr>Aplicação Prática: Detecção de Linhas por Direção</vt:lpstr>
      <vt:lpstr>Filtros de Aguçamento: o Operador Laplaciano</vt:lpstr>
      <vt:lpstr>Filtros de Aguçamento: Objetivo e Fundamentos</vt:lpstr>
      <vt:lpstr>Laplaciano para Aguçamento de Imagens</vt:lpstr>
      <vt:lpstr>Máscara de Nitidez e Filtragem High-Boost</vt:lpstr>
      <vt:lpstr>Gradiente para Aguçamento (Não Linear)</vt:lpstr>
      <vt:lpstr>Aplicação Prática: Aguçamento de Imagens</vt:lpstr>
      <vt:lpstr>Modelos e Detecção de Bordas</vt:lpstr>
      <vt:lpstr>Três Modelos de Borda</vt:lpstr>
      <vt:lpstr>Derivadas na Borda em Rampa e Sensibilidade ao Ruído</vt:lpstr>
      <vt:lpstr>Três Etapas Fundamentais da Detecção de Bordas</vt:lpstr>
      <vt:lpstr>O Gradiente da Imagem</vt:lpstr>
      <vt:lpstr>Magnitude e Direção do Gradiente</vt:lpstr>
      <vt:lpstr>Exemplo 10.5 — Calculando o Gradiente em um Ponto</vt:lpstr>
      <vt:lpstr>Operador de Roberts (Gradiente Cruzado)</vt:lpstr>
      <vt:lpstr>Operadores de Prewitt</vt:lpstr>
      <vt:lpstr>Operadores de Sobel</vt:lpstr>
      <vt:lpstr>Máscaras Diagonais e Magnitude Aproximada</vt:lpstr>
      <vt:lpstr>Aplicação Prática: Roberts × Prewitt × Sobel</vt:lpstr>
      <vt:lpstr>Laplaciano para Bordas: LoG e Cruzamento por Zero</vt:lpstr>
      <vt:lpstr>Aplicação Prática: Laplaciano × LoG</vt:lpstr>
      <vt:lpstr>O Algoritmo de Canny (Seção 10.2.6)</vt:lpstr>
      <vt:lpstr>Aplicação Prática: Detecção de Bordas com Canny</vt:lpstr>
      <vt:lpstr>Quadro-Resumo das Técnicas</vt:lpstr>
      <vt:lpstr>Conclusão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Descontinuidades em Imagens</dc:title>
  <cp:lastModifiedBy>find yxurself</cp:lastModifiedBy>
  <cp:revision>5</cp:revision>
  <dcterms:modified xsi:type="dcterms:W3CDTF">2026-09-20T21:17:12Z</dcterms:modified>
</cp:coreProperties>
</file>