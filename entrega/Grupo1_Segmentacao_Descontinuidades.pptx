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5937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2143125"/>
            <a:ext cx="10515600" cy="4033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1212559" y="6354899"/>
            <a:ext cx="54373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3"/>
          <p:cNvCxnSpPr/>
          <p:nvPr/>
        </p:nvCxnSpPr>
        <p:spPr>
          <a:xfrm>
            <a:off x="0" y="612775"/>
            <a:ext cx="12192000" cy="0"/>
          </a:xfrm>
          <a:prstGeom prst="straightConnector1">
            <a:avLst/>
          </a:prstGeom>
          <a:noFill/>
          <a:ln cap="flat" cmpd="sng" w="57150">
            <a:solidFill>
              <a:srgbClr val="8B313A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0" y="6356350"/>
            <a:ext cx="12192000" cy="0"/>
          </a:xfrm>
          <a:prstGeom prst="straightConnector1">
            <a:avLst/>
          </a:prstGeom>
          <a:noFill/>
          <a:ln cap="flat" cmpd="sng" w="57150">
            <a:solidFill>
              <a:srgbClr val="8B313A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ctrTitle"/>
          </p:nvPr>
        </p:nvSpPr>
        <p:spPr>
          <a:xfrm>
            <a:off x="619164" y="1379247"/>
            <a:ext cx="1096958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sz="4000" b="1" i="0">
                <a:solidFill>
                  <a:srgbClr val="2B2B2B"/>
                </a:solidFill>
                <a:latin typeface="Calibri"/>
              </a:rPr>
              <a:t>Detecção de Descontinuidades em Imagens</a:t>
            </a:r>
            <a:endParaRPr sz="4400"/>
          </a:p>
        </p:txBody>
      </p:sp>
      <p:sp>
        <p:nvSpPr>
          <p:cNvPr id="92" name="Google Shape;92;p13"/>
          <p:cNvSpPr txBox="1"/>
          <p:nvPr>
            <p:ph idx="1" type="subTitle"/>
          </p:nvPr>
        </p:nvSpPr>
        <p:spPr>
          <a:xfrm>
            <a:off x="1818040" y="3978373"/>
            <a:ext cx="857183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sz="1500" b="1" i="0">
                <a:solidFill>
                  <a:srgbClr val="8B313A"/>
                </a:solidFill>
                <a:latin typeface="Calibri"/>
              </a:rPr>
              <a:t>GRUPO 1  ·  PONTOS, LINHAS E BORDAS  ·  SEÇÃO 10.2</a:t>
            </a:r>
            <a:endParaRPr i="1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sz="2600" b="0" i="1">
                <a:solidFill>
                  <a:srgbClr val="2B2B2B"/>
                </a:solidFill>
                <a:latin typeface="Calibri"/>
              </a:rPr>
              <a:t>Matheus de Sousa Moura, [Nome do colega 2] e [Nome do colega 3]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sz="1700" b="0" i="0">
                <a:solidFill>
                  <a:srgbClr val="6E6E6E"/>
                </a:solidFill>
                <a:latin typeface="Calibri"/>
              </a:rPr>
              <a:t>Tópicos Especiais em Visão Computacional  —  Prof. José Denes Lima Araújo</a:t>
            </a:r>
            <a:endParaRPr i="1" sz="3200"/>
          </a:p>
        </p:txBody>
      </p:sp>
      <p:pic>
        <p:nvPicPr>
          <p:cNvPr descr="http://leg.ufpi.br/subsiteFiles/concursoufpi/arquivos/images/Bras%C3%A3o_da_universidade_Federal_do_Piau%C3%AD_UFPI.png"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0456" y="0"/>
            <a:ext cx="1503104" cy="18200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3364173" y="1887192"/>
            <a:ext cx="5343099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Universidade Federal do Piauí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Campus Senador Helvídio Nunes de Barros</a:t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Sumário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2011679"/>
            <a:ext cx="10506456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9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2B2B2B"/>
                </a:solidFill>
                <a:latin typeface="Calibri"/>
              </a:rPr>
              <a:t>1. 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Fundamentos: por que usar derivadas na segmentação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9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2B2B2B"/>
                </a:solidFill>
                <a:latin typeface="Calibri"/>
              </a:rPr>
              <a:t>2. 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Detecção de pontos isolados  (Seção 10.2.2)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9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2B2B2B"/>
                </a:solidFill>
                <a:latin typeface="Calibri"/>
              </a:rPr>
              <a:t>3. 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Detecção de linhas  (Seção 10.2.3)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9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2B2B2B"/>
                </a:solidFill>
                <a:latin typeface="Calibri"/>
              </a:rPr>
              <a:t>4. 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Filtros de aguçamento — o operador Laplaciano  (Seção 3.6)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9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2B2B2B"/>
                </a:solidFill>
                <a:latin typeface="Calibri"/>
              </a:rPr>
              <a:t>5. 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Modelos e detecção de bordas  (Seções 10.2.4 e 10.2.5)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9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2B2B2B"/>
                </a:solidFill>
                <a:latin typeface="Calibri"/>
              </a:rPr>
              <a:t>6. 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Operadores de gradiente: Roberts, Prewitt e Sobel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9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2B2B2B"/>
                </a:solidFill>
                <a:latin typeface="Calibri"/>
              </a:rPr>
              <a:t>7. 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Aplicações práticas em Python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9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900" b="1" i="0">
                <a:solidFill>
                  <a:srgbClr val="2B2B2B"/>
                </a:solidFill>
                <a:latin typeface="Calibri"/>
              </a:rPr>
              <a:t>8.  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Quadro-resumo e 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Fundamentos: Segmentação por Descontinuidades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1874519"/>
            <a:ext cx="50246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8B313A"/>
                </a:solidFill>
                <a:latin typeface="Calibri"/>
              </a:rPr>
              <a:t>O que é segmentação?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3076" y="1874519"/>
            <a:ext cx="50246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8B313A"/>
                </a:solidFill>
                <a:latin typeface="Calibri"/>
              </a:rPr>
              <a:t>Por que derivadas?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39"/>
            <a:ext cx="5024628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particiona a imagem em sub-regiões que cobrem toda a imagem, são conectadas, disjuntas e internamente homogêneas quanto a uma propriedade Q.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duas categorias clássicas: descontinuidade (bordas) e similaridade (limiarização, regiões).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o Grupo 1 cobre a categoria de descontinuidade — pontos, linhas e bordas (Seção 10.2).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6" y="2377439"/>
            <a:ext cx="502462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1ª ordem: zero em áreas constantes; diferente de zero no início de degraus/rampas e ao longo da rampa.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2ª ordem: zero em áreas constantes; diferente de zero no início E no fim da rampa/degrau.</a:t>
            </a:r>
          </a:p>
        </p:txBody>
      </p:sp>
      <p:pic>
        <p:nvPicPr>
          <p:cNvPr id="8" name="Picture 7" descr="combo_deriv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4389119"/>
            <a:ext cx="3250652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Perfil de Intensidade e Resposta das Derivadas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fig_perfil_deriv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08" y="1874519"/>
            <a:ext cx="6788336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961886"/>
            <a:ext cx="105064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Recriação da Fig. 10.2 (Gonzalez &amp; Woods) — perfil de intensidade com rampa, segmento plano, ponto isolado, linha e degrau, e as respectivas 1ª e 2ª derivadas.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1ª × 2ª Derivada: Conclusões do Livro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1874519"/>
            <a:ext cx="50246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8B313A"/>
                </a:solidFill>
                <a:latin typeface="Calibri"/>
              </a:rPr>
              <a:t>Derivadas de 1ª ordem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3076" y="1874519"/>
            <a:ext cx="50246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8B313A"/>
                </a:solidFill>
                <a:latin typeface="Calibri"/>
              </a:rPr>
              <a:t>Derivadas de 2ª ordem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39"/>
            <a:ext cx="5024628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produzem bordas mais "grossas" (respondem ao longo de toda a rampa).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menos sensíveis a pequenos detalhes e ruído fino.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a magnitude indica a presença de uma borda.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6" y="2377439"/>
            <a:ext cx="5024628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resposta bem mais forte a detalhes finos: pontos isolados, linhas e ruído.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produzem um efeito de "borda dupla" nas transições (dois valores por borda).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o sinal indica o lado escuro/claro da transição.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o cruzamento por zero ajuda a localizar o centro da borda.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 Máscara Geral de Filtragem Espacial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panel_mask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981" y="1965959"/>
            <a:ext cx="581699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257800"/>
            <a:ext cx="1050645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toda técnica desta seção (pontos, linhas e bordas) é implementada percorrendo a imagem com uma máscara 3×3 (ou 2×2) e calculando essa soma ponderada 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a diferença entre as técnicas está apenas nos coeficientes wₖ escolhidos.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Detecção de Pontos Isolados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700" b="0" i="1">
                <a:solidFill>
                  <a:srgbClr val="E9DDDD"/>
                </a:solidFill>
                <a:latin typeface="Calibri"/>
              </a:rPr>
              <a:t>Seção 10.2.2 — máscara Laplaciana aplicada a mudanças abruptas em um único pixel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960120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 i="0">
                <a:solidFill>
                  <a:srgbClr val="8B313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Quando Detectar Pontos Isolados?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2057399"/>
            <a:ext cx="10506456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50" b="0" i="0">
                <a:solidFill>
                  <a:srgbClr val="2B2B2B"/>
                </a:solidFill>
                <a:latin typeface="Calibri"/>
              </a:rPr>
              <a:t>baseia-se em derivadas de 2ª ordem (Laplaciano) — as mais sensíveis a mudanças pontuais e detalhes finos.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50" b="0" i="0">
                <a:solidFill>
                  <a:srgbClr val="2B2B2B"/>
                </a:solidFill>
                <a:latin typeface="Calibri"/>
              </a:rPr>
              <a:t>um ponto isolado tem intensidade muito diferente da vizinhança, cercado por um fundo homogêneo.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50" b="0" i="0">
                <a:solidFill>
                  <a:srgbClr val="2B2B2B"/>
                </a:solidFill>
                <a:latin typeface="Calibri"/>
              </a:rPr>
              <a:t>aplicação típica: defeitos pontuais em radiografias industriais — por exemplo, porosidade em uma lâmina de turbina (Exemplo 10.1 do livro).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50" b="0" i="0">
                <a:solidFill>
                  <a:srgbClr val="2B2B2B"/>
                </a:solidFill>
                <a:latin typeface="Calibri"/>
              </a:rPr>
              <a:t>quando o fundo não é homogêneo, outras técnicas de segmentação são mais adequadas.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Máscara Laplaciana e Regra de Limiarização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panel_laplacian_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78" y="1874519"/>
            <a:ext cx="7750196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303519"/>
            <a:ext cx="105064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Fig. 10.4(a) — a soma dos coeficientes é zero: resposta nula em regiões de intensidade constante. T é escolhido, por exemplo, como 90% da maior resposta absoluta observada na imagem (Exemplo 10.1).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Aplicação Prática: Detecção de Ponto Isolado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fig_poin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692" y="1874519"/>
            <a:ext cx="6891568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669279"/>
            <a:ext cx="105064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Implementação em Python (scipy.ndimage.correlate) sobre imagem sintética: máscara Laplaciana 3×3 + limiar T = 90% da maior resposta absoluta — mesmo critério do Exemplo 10.1.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Detecção de Linhas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700" b="0" i="1">
                <a:solidFill>
                  <a:srgbClr val="E9DDDD"/>
                </a:solidFill>
                <a:latin typeface="Calibri"/>
              </a:rPr>
              <a:t>Seção 10.2.3 — máscaras direcionais e o efeito de linha dupla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960120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 i="0">
                <a:solidFill>
                  <a:srgbClr val="8B313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Conceito e o Problema da Linha Dupla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2057399"/>
            <a:ext cx="10506456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assim como pontos, linhas finas respondem melhor a derivadas de 2ª ordem, que produzem linhas mais nítidas que a 1ª ordem.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a máscara Laplaciana pode ser usada, mas gera valores positivos e negativos de cada lado da linha — o efeito de "linha dupla".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solução prática: manter apenas os valores positivos (ou aplicar um limiar), o que produz linhas mais finas e úteis.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linhas largas em relação ao tamanho da máscara geram um "vale" de zeros entre as bordas — melhor tratá-las como regiões.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Máscaras Direcionais de Linha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panel_line_m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931" y="1874519"/>
            <a:ext cx="9297089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892040"/>
            <a:ext cx="105064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cada máscara tem peso 2 na direção preferencial; os coeficientes somam zero (Fig. 10.6).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regra de decisão: se |Rₖ| &gt; |Rⱼ| para todo j ≠ k, o pixel tem maior probabilidade de pertencer a uma linha na direção k (Exemplo 10.3).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Aplicação Prática: Detecção de Linhas por Direção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fig_lin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148" y="1874519"/>
            <a:ext cx="6872656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669279"/>
            <a:ext cx="105064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Imagem sintética com linhas horizontal, vertical e diagonal. A máscara de +45° (peso 2 na diagonal principal) responde e é limiarizada apenas na linha diagonal, ignorando as demais — como no Exemplo 10.3.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Filtros de Aguçamento: o Operador Laplaciano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panel_laplacian_t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115" y="1874519"/>
            <a:ext cx="8382722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074920"/>
            <a:ext cx="105064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5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o Laplaciano é um filtro de aguçamento isotrópico — sua resposta não depende da direção da descontinuidade — e é a base tanto da detecção de pontos quanto de linhas vista nas seções anteriores.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3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nota: o material-base fornecido para este trabalho remete à Seção 3.6 através das equações 10.2-4 a 10.2-7, mas não trouxe o texto integral dessa seção.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Modelos e Detecção de Bordas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700" b="0" i="1">
                <a:solidFill>
                  <a:srgbClr val="E9DDDD"/>
                </a:solidFill>
                <a:latin typeface="Calibri"/>
              </a:rPr>
              <a:t>Seções 10.2.4 e 10.2.5 — do modelo teórico ao operador do gradiente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960120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 i="0">
                <a:solidFill>
                  <a:srgbClr val="8B313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Três Modelos de Borda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fig_edge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50" y="1874519"/>
            <a:ext cx="6689851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434840"/>
            <a:ext cx="1050645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B2B2B"/>
                </a:solidFill>
                <a:latin typeface="Calibri"/>
              </a:rPr>
              <a:t>Degrau: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transição idealizada em 1 pixel — comum em imagens geradas por computador.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B2B2B"/>
                </a:solidFill>
                <a:latin typeface="Calibri"/>
              </a:rPr>
              <a:t>Rampa: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transição suave; inclinação inversamente proporcional ao desfoque — modelo mais realista para imagens reais (borrão + ruído).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B2B2B"/>
                </a:solidFill>
                <a:latin typeface="Calibri"/>
              </a:rPr>
              <a:t>Telhado: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modela linhas finas; no limite (base de 1 px) equivale a uma linha — comum em imagens de profundidade e desenhos digitalizados.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Derivadas na Borda em Rampa e Sensibilidade ao Ruído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fig_ramp_deriva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74519"/>
            <a:ext cx="4206240" cy="3988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21808" y="1965959"/>
            <a:ext cx="6025896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1ª derivada: positiva ao longo de toda a rampa → marca a presença da borda.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2ª derivada: positiva no início, negativa no fim, com um cruzamento por zero exatamente no centro → localiza a borda com precisão.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o sinal da 2ª derivada indica o lado escuro/claro da transição.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mesmo ruído "quase invisível" na imagem já compromete fortemente as derivadas — a 2ª ordem é ainda mais sensível que a 1ª (Exemplo 10.4).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conclusão prática: suavizar a imagem antes de qualquer detector baseado em derivadas.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Três Etapas Fundamentais da Detecção de Bordas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841248" y="2148839"/>
            <a:ext cx="822960" cy="822960"/>
          </a:xfrm>
          <a:prstGeom prst="ellipse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54679"/>
            <a:ext cx="3258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8B313A"/>
                </a:solidFill>
                <a:latin typeface="Calibri"/>
              </a:rPr>
              <a:t>Suavização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57599"/>
            <a:ext cx="325831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reduzir o ruído da imagem antes de qualquer outra etapa.</a:t>
            </a:r>
          </a:p>
        </p:txBody>
      </p:sp>
      <p:sp>
        <p:nvSpPr>
          <p:cNvPr id="7" name="Oval 6"/>
          <p:cNvSpPr/>
          <p:nvPr/>
        </p:nvSpPr>
        <p:spPr>
          <a:xfrm>
            <a:off x="4465320" y="2148839"/>
            <a:ext cx="822960" cy="822960"/>
          </a:xfrm>
          <a:prstGeom prst="ellipse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5320" y="3154679"/>
            <a:ext cx="3258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8B313A"/>
                </a:solidFill>
                <a:latin typeface="Calibri"/>
              </a:rPr>
              <a:t>Detecção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5320" y="3657599"/>
            <a:ext cx="325831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operação local que identifica todos os candidatos a pontos de borda.</a:t>
            </a:r>
          </a:p>
        </p:txBody>
      </p:sp>
      <p:sp>
        <p:nvSpPr>
          <p:cNvPr id="10" name="Oval 9"/>
          <p:cNvSpPr/>
          <p:nvPr/>
        </p:nvSpPr>
        <p:spPr>
          <a:xfrm>
            <a:off x="8089392" y="2148839"/>
            <a:ext cx="822960" cy="822960"/>
          </a:xfrm>
          <a:prstGeom prst="ellipse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9392" y="3154679"/>
            <a:ext cx="32583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8B313A"/>
                </a:solidFill>
                <a:latin typeface="Calibri"/>
              </a:rPr>
              <a:t>Localização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9392" y="3657599"/>
            <a:ext cx="325831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selecionar, entre os candidatos, apenas os pontos que de fato formam uma borda.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O Gradiente da Imagem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panel_gradient_eq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90" y="2148839"/>
            <a:ext cx="5582372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97680"/>
            <a:ext cx="1050645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7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o gradiente ∇f é a ferramenta ideal para obter a intensidade e a direção da borda em cada ponto (x, y) da imagem.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7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aponta na direção de maior taxa de variação de f — propriedade geométrica central de toda a Seção 10.2.5.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Magnitude e Direção do Gradiente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panel_grad_magd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429" y="2057399"/>
            <a:ext cx="6984093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892040"/>
            <a:ext cx="105064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M(x,y) também é chamada de "imagem gradiente" — é comum se referir a ela como um mapa de bordas.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a direção de uma borda em (x, y) é ortogonal à direção α(x,y) do vetor gradiente naquele ponto.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Exemplo 10.5 — Calculando o Gradiente em um Ponto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fig_gradient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74519"/>
            <a:ext cx="5120640" cy="3745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36208" y="2148839"/>
            <a:ext cx="5111496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no ponto em destaque: ∂f/∂y = −2  e  ∂f/∂x = 2.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logo, M(x,y) = √(2² + 2²) = 2√2.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a direção do vetor gradiente é α(x,y) = 135°.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a direção da borda é ortogonal ao gradiente: 135° − 90° = 45°.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Operador de Roberts (Gradiente Cruzado)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panel_rob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159" y="1874519"/>
            <a:ext cx="6714633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074920"/>
            <a:ext cx="1050645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usa diferenças diagonais em uma vizinhança 2×2 — o operador mais simples da Seção 10.2.5.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por não ser simétrico ao redor de um pixel central, é pouco útil para estimar a direção da borda.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Operadores de Prewitt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panel_prewi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651" y="1874519"/>
            <a:ext cx="823965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257800"/>
            <a:ext cx="1050645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usa uma vizinhança 3×3 simétrica: a diferença entre a 3ª e a 1ª linha (ou coluna) aproxima a derivada naquela direção.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Operadores de Sobel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panel_so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651" y="1874519"/>
            <a:ext cx="823965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120640"/>
            <a:ext cx="105064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igual ao Prewitt, mas com peso 2 no pixel central da direção — isso suaviza a imagem e reduz a sensibilidade ao ruído.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por isso é o operador de gradiente mais usado na prática.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Máscaras Diagonais e Magnitude Aproximada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panel_diagonal_appr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102" y="1874519"/>
            <a:ext cx="8544748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029200"/>
            <a:ext cx="1050645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Prewitt e Sobel também têm versões voltadas às diagonais, mais sensíveis a bordas a ±45° (Fig. 10.15).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M(x,y) ≈ |gₓ| + |g_y| evita raiz quadrada e quadrados — mais leve computacionalmente, com resultado idêntico ao exato em bordas puramente verticais/horizontais.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Aplicação Prática: Roberts × Prewitt × Sobel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fig_edg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74519"/>
            <a:ext cx="10506456" cy="2998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055695"/>
            <a:ext cx="105064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Imagem sintética com ruído (círculo, quadrado e triângulo) — magnitude do gradiente |M(x,y)| calculada em Python com cada operador. Os três detectam os mesmos contornos; Prewitt e Sobel produzem bordas visivelmente menos ruidosas que Roberts (Exemplo 10.6).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Quadro-Resumo das Técnicas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920239"/>
          <a:ext cx="10506456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468880"/>
                <a:gridCol w="2468880"/>
                <a:gridCol w="3648456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 marT="50800" marB="50800">
                    <a:solidFill>
                      <a:srgbClr val="8B3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Ordem da derivada</a:t>
                      </a:r>
                    </a:p>
                  </a:txBody>
                  <a:tcPr marT="50800" marB="50800">
                    <a:solidFill>
                      <a:srgbClr val="8B3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Máscara típica</a:t>
                      </a:r>
                    </a:p>
                  </a:txBody>
                  <a:tcPr marT="50800" marB="50800">
                    <a:solidFill>
                      <a:srgbClr val="8B3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Quando usar</a:t>
                      </a:r>
                    </a:p>
                  </a:txBody>
                  <a:tcPr marT="50800" marB="50800">
                    <a:solidFill>
                      <a:srgbClr val="8B313A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Calibri"/>
                        </a:rPr>
                        <a:t>Pontos isolados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2ª (Laplaciano)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3×3, centro −8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defeito pontual em fundo homogêneo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Calibri"/>
                        </a:rPr>
                        <a:t>Linhas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2ª (Laplaciano direcional)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3×3, peso 2 na direção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linhas finas (1 px) em direção conhecida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Calibri"/>
                        </a:rPr>
                        <a:t>Bordas (gradiente)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1ª (Roberts / Prewitt / Sobel)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2×2 ou 3×3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transições graduais; intensidade e direção da borda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709160"/>
            <a:ext cx="1050645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6E6E6E"/>
                </a:solidFill>
                <a:latin typeface="Calibri"/>
              </a:rPr>
              <a:t>Sobre o algoritmo de Canny: o material-base cita que ele foi construído a partir do modelo de borda em degrau (Seção 10.2.6), mas não traz seu desenvolvimento completo — vale a pena consultar essa seção do livro na íntegra.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Conclusão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2103119"/>
            <a:ext cx="10506456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a detecção de descontinuidades — pontos, linhas e bordas — é a base da segmentação de imagens por bordas.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derivadas de 1ª ordem localizam bordas; derivadas de 2ª ordem realçam detalhes finos (pontos e linhas) e permitem localizar a borda com precisão via cruzamento por zero.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suavização é indispensável: todo detector baseado em derivadas é sensível ao ruído — quanto maior a ordem, maior a sensibilidade.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entre os operadores de gradiente, o Sobel é o mais usado na prática por equilibrar simplicidade e robustez ao ruído.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2148839"/>
            <a:ext cx="10506456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GONZALEZ, Rafael C.; WOODS, Richard E. Processamento Digital de Imagens. 3ª ed. São Paulo: Pearson, 2010. Capítulos 3, 9 e 10.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Material da disciplina Tópicos Especiais em Visão Computacional — UFPI, Campus Senador Helvídio Nunes de Barros (Picos), Prof. José Denes Lima Araújo.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Figuras, máscaras e demonstrações produzidas pelo grupo em Python (NumPy, SciPy e Matplotlib), a partir das equações e exemplos do capítulo 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